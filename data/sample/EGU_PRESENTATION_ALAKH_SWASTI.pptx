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30"/>
    <p:sldId id="257" r:id="rId31"/>
    <p:sldId id="258" r:id="rId32"/>
    <p:sldId id="259" r:id="rId33"/>
    <p:sldId id="260" r:id="rId34"/>
    <p:sldId id="261" r:id="rId35"/>
    <p:sldId id="262" r:id="rId36"/>
    <p:sldId id="263" r:id="rId37"/>
    <p:sldId id="264" r:id="rId38"/>
  </p:sldIdLst>
  <p:sldSz cx="18288000" cy="10287000"/>
  <p:notesSz cx="6858000" cy="9144000"/>
  <p:embeddedFontLst>
    <p:embeddedFont>
      <p:font typeface="Glacial Indifference" charset="1" panose="00000000000000000000"/>
      <p:regular r:id="rId6"/>
    </p:embeddedFont>
    <p:embeddedFont>
      <p:font typeface="Glacial Indifference Bold" charset="1" panose="00000800000000000000"/>
      <p:regular r:id="rId7"/>
    </p:embeddedFont>
    <p:embeddedFont>
      <p:font typeface="Glacial Indifference Italics" charset="1" panose="00000000000000000000"/>
      <p:regular r:id="rId8"/>
    </p:embeddedFont>
    <p:embeddedFont>
      <p:font typeface="Glacial Indifference Bold Italics" charset="1" panose="00000800000000000000"/>
      <p:regular r:id="rId9"/>
    </p:embeddedFont>
    <p:embeddedFont>
      <p:font typeface="Arimo" charset="1" panose="020B0604020202020204"/>
      <p:regular r:id="rId10"/>
    </p:embeddedFont>
    <p:embeddedFont>
      <p:font typeface="Arimo Bold" charset="1" panose="020B0704020202020204"/>
      <p:regular r:id="rId11"/>
    </p:embeddedFont>
    <p:embeddedFont>
      <p:font typeface="Arimo Italics" charset="1" panose="020B0604020202090204"/>
      <p:regular r:id="rId12"/>
    </p:embeddedFont>
    <p:embeddedFont>
      <p:font typeface="Arimo Bold Italics" charset="1" panose="020B0704020202090204"/>
      <p:regular r:id="rId13"/>
    </p:embeddedFont>
    <p:embeddedFont>
      <p:font typeface="Cormorant Garamond" charset="1" panose="00000500000000000000"/>
      <p:regular r:id="rId14"/>
    </p:embeddedFont>
    <p:embeddedFont>
      <p:font typeface="Cormorant Garamond Bold" charset="1" panose="00000800000000000000"/>
      <p:regular r:id="rId15"/>
    </p:embeddedFont>
    <p:embeddedFont>
      <p:font typeface="Cormorant Garamond Italics" charset="1" panose="00000500000000000000"/>
      <p:regular r:id="rId16"/>
    </p:embeddedFont>
    <p:embeddedFont>
      <p:font typeface="Cormorant Garamond Bold Italics" charset="1" panose="00000800000000000000"/>
      <p:regular r:id="rId17"/>
    </p:embeddedFont>
    <p:embeddedFont>
      <p:font typeface="Cormorant Garamond Light" charset="1" panose="00000400000000000000"/>
      <p:regular r:id="rId18"/>
    </p:embeddedFont>
    <p:embeddedFont>
      <p:font typeface="Cormorant Garamond Light Italics" charset="1" panose="00000400000000000000"/>
      <p:regular r:id="rId19"/>
    </p:embeddedFont>
    <p:embeddedFont>
      <p:font typeface="Cormorant Garamond Medium" charset="1" panose="00000600000000000000"/>
      <p:regular r:id="rId20"/>
    </p:embeddedFont>
    <p:embeddedFont>
      <p:font typeface="Cormorant Garamond Medium Italics" charset="1" panose="00000600000000000000"/>
      <p:regular r:id="rId21"/>
    </p:embeddedFont>
    <p:embeddedFont>
      <p:font typeface="Cormorant Garamond Semi-Bold" charset="1" panose="00000700000000000000"/>
      <p:regular r:id="rId22"/>
    </p:embeddedFont>
    <p:embeddedFont>
      <p:font typeface="Cormorant Garamond Semi-Bold Italics" charset="1" panose="00000700000000000000"/>
      <p:regular r:id="rId23"/>
    </p:embeddedFont>
    <p:embeddedFont>
      <p:font typeface="Canva Sans" charset="1" panose="020B0503030501040103"/>
      <p:regular r:id="rId24"/>
    </p:embeddedFont>
    <p:embeddedFont>
      <p:font typeface="Canva Sans Bold" charset="1" panose="020B0803030501040103"/>
      <p:regular r:id="rId25"/>
    </p:embeddedFont>
    <p:embeddedFont>
      <p:font typeface="Canva Sans Italics" charset="1" panose="020B0503030501040103"/>
      <p:regular r:id="rId26"/>
    </p:embeddedFont>
    <p:embeddedFont>
      <p:font typeface="Canva Sans Bold Italics" charset="1" panose="020B0803030501040103"/>
      <p:regular r:id="rId27"/>
    </p:embeddedFont>
    <p:embeddedFont>
      <p:font typeface="Canva Sans Medium" charset="1" panose="020B0603030501040103"/>
      <p:regular r:id="rId28"/>
    </p:embeddedFont>
    <p:embeddedFont>
      <p:font typeface="Canva Sans Medium Italics" charset="1" panose="020B0603030501040103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slides/slide1.xml" Type="http://schemas.openxmlformats.org/officeDocument/2006/relationships/slide"/><Relationship Id="rId31" Target="slides/slide2.xml" Type="http://schemas.openxmlformats.org/officeDocument/2006/relationships/slide"/><Relationship Id="rId32" Target="slides/slide3.xml" Type="http://schemas.openxmlformats.org/officeDocument/2006/relationships/slide"/><Relationship Id="rId33" Target="slides/slide4.xml" Type="http://schemas.openxmlformats.org/officeDocument/2006/relationships/slide"/><Relationship Id="rId34" Target="slides/slide5.xml" Type="http://schemas.openxmlformats.org/officeDocument/2006/relationships/slide"/><Relationship Id="rId35" Target="slides/slide6.xml" Type="http://schemas.openxmlformats.org/officeDocument/2006/relationships/slide"/><Relationship Id="rId36" Target="slides/slide7.xml" Type="http://schemas.openxmlformats.org/officeDocument/2006/relationships/slide"/><Relationship Id="rId37" Target="slides/slide8.xml" Type="http://schemas.openxmlformats.org/officeDocument/2006/relationships/slide"/><Relationship Id="rId38" Target="slides/slide9.xml" Type="http://schemas.openxmlformats.org/officeDocument/2006/relationships/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fonts/font6.fntdata" Type="http://schemas.openxmlformats.org/officeDocument/2006/relationships/font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png" Type="http://schemas.openxmlformats.org/officeDocument/2006/relationships/image"/><Relationship Id="rId11" Target="../media/image25.svg" Type="http://schemas.openxmlformats.org/officeDocument/2006/relationships/image"/><Relationship Id="rId12" Target="../media/image26.png" Type="http://schemas.openxmlformats.org/officeDocument/2006/relationships/image"/><Relationship Id="rId13" Target="../media/image27.svg" Type="http://schemas.openxmlformats.org/officeDocument/2006/relationships/image"/><Relationship Id="rId14" Target="../media/image28.jpeg" Type="http://schemas.openxmlformats.org/officeDocument/2006/relationships/image"/><Relationship Id="rId15" Target="../media/image29.png" Type="http://schemas.openxmlformats.org/officeDocument/2006/relationships/image"/><Relationship Id="rId16" Target="../media/image30.svg" Type="http://schemas.openxmlformats.org/officeDocument/2006/relationships/image"/><Relationship Id="rId2" Target="../media/image16.png" Type="http://schemas.openxmlformats.org/officeDocument/2006/relationships/image"/><Relationship Id="rId3" Target="../media/image17.jpe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Relationship Id="rId8" Target="../media/image22.png" Type="http://schemas.openxmlformats.org/officeDocument/2006/relationships/image"/><Relationship Id="rId9" Target="../media/image2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9.png" Type="http://schemas.openxmlformats.org/officeDocument/2006/relationships/image"/><Relationship Id="rId11" Target="../media/image40.png" Type="http://schemas.openxmlformats.org/officeDocument/2006/relationships/image"/><Relationship Id="rId12" Target="../media/image41.png" Type="http://schemas.openxmlformats.org/officeDocument/2006/relationships/image"/><Relationship Id="rId13" Target="../media/image42.png" Type="http://schemas.openxmlformats.org/officeDocument/2006/relationships/image"/><Relationship Id="rId14" Target="../media/image43.svg" Type="http://schemas.openxmlformats.org/officeDocument/2006/relationships/image"/><Relationship Id="rId15" Target="../media/image44.jpeg" Type="http://schemas.openxmlformats.org/officeDocument/2006/relationships/image"/><Relationship Id="rId16" Target="../media/VAGCHrTUxi0.mp4" Type="http://schemas.openxmlformats.org/officeDocument/2006/relationships/video"/><Relationship Id="rId17" Target="../media/VAGCHrTUxi0.mp4" Type="http://schemas.microsoft.com/office/2007/relationships/media"/><Relationship Id="rId18" Target="../media/image45.png" Type="http://schemas.openxmlformats.org/officeDocument/2006/relationships/image"/><Relationship Id="rId19" Target="../media/image46.png" Type="http://schemas.openxmlformats.org/officeDocument/2006/relationships/image"/><Relationship Id="rId2" Target="../media/image31.png" Type="http://schemas.openxmlformats.org/officeDocument/2006/relationships/image"/><Relationship Id="rId20" Target="../media/image47.svg" Type="http://schemas.openxmlformats.org/officeDocument/2006/relationships/image"/><Relationship Id="rId21" Target="../media/image48.png" Type="http://schemas.openxmlformats.org/officeDocument/2006/relationships/image"/><Relationship Id="rId3" Target="../media/image32.png" Type="http://schemas.openxmlformats.org/officeDocument/2006/relationships/image"/><Relationship Id="rId4" Target="../media/image33.svg" Type="http://schemas.openxmlformats.org/officeDocument/2006/relationships/image"/><Relationship Id="rId5" Target="../media/image34.png" Type="http://schemas.openxmlformats.org/officeDocument/2006/relationships/image"/><Relationship Id="rId6" Target="../media/image35.svg" Type="http://schemas.openxmlformats.org/officeDocument/2006/relationships/image"/><Relationship Id="rId7" Target="../media/image36.png" Type="http://schemas.openxmlformats.org/officeDocument/2006/relationships/image"/><Relationship Id="rId8" Target="../media/image37.svg" Type="http://schemas.openxmlformats.org/officeDocument/2006/relationships/image"/><Relationship Id="rId9" Target="../media/image3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svg" Type="http://schemas.openxmlformats.org/officeDocument/2006/relationships/image"/><Relationship Id="rId11" Target="../media/image26.png" Type="http://schemas.openxmlformats.org/officeDocument/2006/relationships/image"/><Relationship Id="rId12" Target="../media/image27.svg" Type="http://schemas.openxmlformats.org/officeDocument/2006/relationships/image"/><Relationship Id="rId13" Target="../media/image28.jpeg" Type="http://schemas.openxmlformats.org/officeDocument/2006/relationships/image"/><Relationship Id="rId14" Target="../media/image29.png" Type="http://schemas.openxmlformats.org/officeDocument/2006/relationships/image"/><Relationship Id="rId15" Target="../media/image30.svg" Type="http://schemas.openxmlformats.org/officeDocument/2006/relationships/image"/><Relationship Id="rId2" Target="../media/image16.png" Type="http://schemas.openxmlformats.org/officeDocument/2006/relationships/image"/><Relationship Id="rId3" Target="../media/image17.jpeg" Type="http://schemas.openxmlformats.org/officeDocument/2006/relationships/image"/><Relationship Id="rId4" Target="../media/image49.png" Type="http://schemas.openxmlformats.org/officeDocument/2006/relationships/image"/><Relationship Id="rId5" Target="../media/image22.png" Type="http://schemas.openxmlformats.org/officeDocument/2006/relationships/image"/><Relationship Id="rId6" Target="../media/image23.sv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1.jpeg" Type="http://schemas.openxmlformats.org/officeDocument/2006/relationships/image"/><Relationship Id="rId11" Target="../media/VAGCICmoNQU.mp4" Type="http://schemas.openxmlformats.org/officeDocument/2006/relationships/video"/><Relationship Id="rId12" Target="../media/VAGCICmoNQU.mp4" Type="http://schemas.microsoft.com/office/2007/relationships/media"/><Relationship Id="rId13" Target="../media/image52.png" Type="http://schemas.openxmlformats.org/officeDocument/2006/relationships/image"/><Relationship Id="rId14" Target="../media/image53.png" Type="http://schemas.openxmlformats.org/officeDocument/2006/relationships/image"/><Relationship Id="rId15" Target="../media/image54.png" Type="http://schemas.openxmlformats.org/officeDocument/2006/relationships/image"/><Relationship Id="rId16" Target="../media/image46.png" Type="http://schemas.openxmlformats.org/officeDocument/2006/relationships/image"/><Relationship Id="rId17" Target="../media/image47.svg" Type="http://schemas.openxmlformats.org/officeDocument/2006/relationships/image"/><Relationship Id="rId18" Target="../media/image55.png" Type="http://schemas.openxmlformats.org/officeDocument/2006/relationships/image"/><Relationship Id="rId2" Target="../media/image34.png" Type="http://schemas.openxmlformats.org/officeDocument/2006/relationships/image"/><Relationship Id="rId3" Target="../media/image35.svg" Type="http://schemas.openxmlformats.org/officeDocument/2006/relationships/image"/><Relationship Id="rId4" Target="../media/image36.png" Type="http://schemas.openxmlformats.org/officeDocument/2006/relationships/image"/><Relationship Id="rId5" Target="../media/image37.svg" Type="http://schemas.openxmlformats.org/officeDocument/2006/relationships/image"/><Relationship Id="rId6" Target="../media/image42.png" Type="http://schemas.openxmlformats.org/officeDocument/2006/relationships/image"/><Relationship Id="rId7" Target="../media/image43.svg" Type="http://schemas.openxmlformats.org/officeDocument/2006/relationships/image"/><Relationship Id="rId8" Target="../media/image45.png" Type="http://schemas.openxmlformats.org/officeDocument/2006/relationships/image"/><Relationship Id="rId9" Target="../media/image5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6.png" Type="http://schemas.openxmlformats.org/officeDocument/2006/relationships/image"/><Relationship Id="rId3" Target="../media/image5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8.png" Type="http://schemas.openxmlformats.org/officeDocument/2006/relationships/image"/><Relationship Id="rId3" Target="../media/image59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3809790" y="0"/>
            <a:ext cx="4478210" cy="3525572"/>
          </a:xfrm>
          <a:custGeom>
            <a:avLst/>
            <a:gdLst/>
            <a:ahLst/>
            <a:cxnLst/>
            <a:rect r="r" b="b" t="t" l="l"/>
            <a:pathLst>
              <a:path h="3525572" w="4478210">
                <a:moveTo>
                  <a:pt x="4478210" y="0"/>
                </a:moveTo>
                <a:lnTo>
                  <a:pt x="0" y="0"/>
                </a:lnTo>
                <a:lnTo>
                  <a:pt x="0" y="3525572"/>
                </a:lnTo>
                <a:lnTo>
                  <a:pt x="4478210" y="3525572"/>
                </a:lnTo>
                <a:lnTo>
                  <a:pt x="447821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3809790" y="5826116"/>
            <a:ext cx="4478210" cy="4478210"/>
          </a:xfrm>
          <a:custGeom>
            <a:avLst/>
            <a:gdLst/>
            <a:ahLst/>
            <a:cxnLst/>
            <a:rect r="r" b="b" t="t" l="l"/>
            <a:pathLst>
              <a:path h="4478210" w="4478210">
                <a:moveTo>
                  <a:pt x="4478210" y="0"/>
                </a:moveTo>
                <a:lnTo>
                  <a:pt x="0" y="0"/>
                </a:lnTo>
                <a:lnTo>
                  <a:pt x="0" y="4478210"/>
                </a:lnTo>
                <a:lnTo>
                  <a:pt x="4478210" y="4478210"/>
                </a:lnTo>
                <a:lnTo>
                  <a:pt x="447821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 flipV="true">
            <a:off x="962276" y="1028700"/>
            <a:ext cx="66424" cy="7983581"/>
          </a:xfrm>
          <a:prstGeom prst="line">
            <a:avLst/>
          </a:prstGeom>
          <a:ln cap="flat" w="38100">
            <a:solidFill>
              <a:srgbClr val="2D388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596227" y="8248245"/>
            <a:ext cx="966495" cy="1010055"/>
          </a:xfrm>
          <a:custGeom>
            <a:avLst/>
            <a:gdLst/>
            <a:ahLst/>
            <a:cxnLst/>
            <a:rect r="r" b="b" t="t" l="l"/>
            <a:pathLst>
              <a:path h="1010055" w="966495">
                <a:moveTo>
                  <a:pt x="0" y="0"/>
                </a:moveTo>
                <a:lnTo>
                  <a:pt x="966495" y="0"/>
                </a:lnTo>
                <a:lnTo>
                  <a:pt x="966495" y="1010055"/>
                </a:lnTo>
                <a:lnTo>
                  <a:pt x="0" y="101005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4507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596227" y="1017748"/>
            <a:ext cx="3877259" cy="1027524"/>
            <a:chOff x="0" y="0"/>
            <a:chExt cx="5169678" cy="137003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603798" y="14602"/>
              <a:ext cx="1374419" cy="1293571"/>
            </a:xfrm>
            <a:custGeom>
              <a:avLst/>
              <a:gdLst/>
              <a:ahLst/>
              <a:cxnLst/>
              <a:rect r="r" b="b" t="t" l="l"/>
              <a:pathLst>
                <a:path h="1293571" w="1374419">
                  <a:moveTo>
                    <a:pt x="0" y="0"/>
                  </a:moveTo>
                  <a:lnTo>
                    <a:pt x="1374420" y="0"/>
                  </a:lnTo>
                  <a:lnTo>
                    <a:pt x="1374420" y="1293571"/>
                  </a:lnTo>
                  <a:lnTo>
                    <a:pt x="0" y="1293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89934" cy="1308173"/>
            </a:xfrm>
            <a:custGeom>
              <a:avLst/>
              <a:gdLst/>
              <a:ahLst/>
              <a:cxnLst/>
              <a:rect r="r" b="b" t="t" l="l"/>
              <a:pathLst>
                <a:path h="1308173" w="1389934">
                  <a:moveTo>
                    <a:pt x="0" y="0"/>
                  </a:moveTo>
                  <a:lnTo>
                    <a:pt x="1389934" y="0"/>
                  </a:lnTo>
                  <a:lnTo>
                    <a:pt x="1389934" y="1308173"/>
                  </a:lnTo>
                  <a:lnTo>
                    <a:pt x="0" y="13081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194118" y="14602"/>
              <a:ext cx="1975561" cy="1355429"/>
            </a:xfrm>
            <a:custGeom>
              <a:avLst/>
              <a:gdLst/>
              <a:ahLst/>
              <a:cxnLst/>
              <a:rect r="r" b="b" t="t" l="l"/>
              <a:pathLst>
                <a:path h="1355429" w="1975561">
                  <a:moveTo>
                    <a:pt x="0" y="0"/>
                  </a:moveTo>
                  <a:lnTo>
                    <a:pt x="1975560" y="0"/>
                  </a:lnTo>
                  <a:lnTo>
                    <a:pt x="1975560" y="1355430"/>
                  </a:lnTo>
                  <a:lnTo>
                    <a:pt x="0" y="13554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459867" y="2686456"/>
            <a:ext cx="15123775" cy="3139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8108"/>
              </a:lnSpc>
            </a:pPr>
            <a:r>
              <a:rPr lang="en-US" sz="8108">
                <a:solidFill>
                  <a:srgbClr val="2D3880"/>
                </a:solidFill>
                <a:latin typeface="Cormorant Garamond Italics"/>
              </a:rPr>
              <a:t>Classification of different physical scatterers in weather radar data using machine learning techniques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59867" y="6491159"/>
            <a:ext cx="10368096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4480"/>
              </a:lnSpc>
            </a:pPr>
            <a:r>
              <a:rPr lang="en-US" sz="3200">
                <a:solidFill>
                  <a:srgbClr val="2D3880"/>
                </a:solidFill>
                <a:latin typeface="Glacial Indifference"/>
              </a:rPr>
              <a:t>Alakh Agrawal,  Swasti Pahuja,  Anjita Neelatt,  J Indu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59867" y="7304486"/>
            <a:ext cx="10368096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2D3880"/>
                </a:solidFill>
                <a:latin typeface="Glacial Indifference"/>
              </a:rPr>
              <a:t>15 April, 2024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567056" y="9475464"/>
            <a:ext cx="123924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2D3880"/>
                </a:solidFill>
                <a:latin typeface="Glacial Indifference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7182390"/>
            <a:ext cx="7328478" cy="3104610"/>
          </a:xfrm>
          <a:custGeom>
            <a:avLst/>
            <a:gdLst/>
            <a:ahLst/>
            <a:cxnLst/>
            <a:rect r="r" b="b" t="t" l="l"/>
            <a:pathLst>
              <a:path h="3104610" w="7328478">
                <a:moveTo>
                  <a:pt x="0" y="0"/>
                </a:moveTo>
                <a:lnTo>
                  <a:pt x="7328478" y="0"/>
                </a:lnTo>
                <a:lnTo>
                  <a:pt x="7328478" y="3104610"/>
                </a:lnTo>
                <a:lnTo>
                  <a:pt x="0" y="31046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895350"/>
            <a:ext cx="7955327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2D3880"/>
                </a:solidFill>
                <a:latin typeface="Cormorant Garamond Bold Italics"/>
              </a:rPr>
              <a:t>Problem Statement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2663378"/>
            <a:ext cx="15838380" cy="1239104"/>
            <a:chOff x="0" y="0"/>
            <a:chExt cx="21117840" cy="165213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55194" cy="1652139"/>
            </a:xfrm>
            <a:custGeom>
              <a:avLst/>
              <a:gdLst/>
              <a:ahLst/>
              <a:cxnLst/>
              <a:rect r="r" b="b" t="t" l="l"/>
              <a:pathLst>
                <a:path h="1652139" w="1955194">
                  <a:moveTo>
                    <a:pt x="0" y="0"/>
                  </a:moveTo>
                  <a:lnTo>
                    <a:pt x="1955194" y="0"/>
                  </a:lnTo>
                  <a:lnTo>
                    <a:pt x="1955194" y="1652139"/>
                  </a:lnTo>
                  <a:lnTo>
                    <a:pt x="0" y="16521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2782490" y="98995"/>
              <a:ext cx="18335350" cy="15483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marL="0" indent="0" lvl="0">
                <a:lnSpc>
                  <a:spcPts val="4929"/>
                </a:lnSpc>
              </a:pPr>
              <a:r>
                <a:rPr lang="en-US" sz="2899">
                  <a:solidFill>
                    <a:srgbClr val="2D3880"/>
                  </a:solidFill>
                  <a:latin typeface="Glacial Indifference"/>
                </a:rPr>
                <a:t>To classify echoes from meteorological and biological targets using dual polarization Doppler weather radar data from the Next Generation Weather Radar (NEXRAD)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5143500"/>
            <a:ext cx="16230600" cy="1466396"/>
            <a:chOff x="0" y="0"/>
            <a:chExt cx="21640800" cy="195519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55194" cy="1955194"/>
            </a:xfrm>
            <a:custGeom>
              <a:avLst/>
              <a:gdLst/>
              <a:ahLst/>
              <a:cxnLst/>
              <a:rect r="r" b="b" t="t" l="l"/>
              <a:pathLst>
                <a:path h="1955194" w="1955194">
                  <a:moveTo>
                    <a:pt x="0" y="0"/>
                  </a:moveTo>
                  <a:lnTo>
                    <a:pt x="1955194" y="0"/>
                  </a:lnTo>
                  <a:lnTo>
                    <a:pt x="1955194" y="1955194"/>
                  </a:lnTo>
                  <a:lnTo>
                    <a:pt x="0" y="19551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2782490" y="131988"/>
              <a:ext cx="18858310" cy="15483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marL="0" indent="0" lvl="0">
                <a:lnSpc>
                  <a:spcPts val="4929"/>
                </a:lnSpc>
              </a:pPr>
              <a:r>
                <a:rPr lang="en-US" sz="2899">
                  <a:solidFill>
                    <a:srgbClr val="2D3880"/>
                  </a:solidFill>
                  <a:latin typeface="Glacial Indifference"/>
                </a:rPr>
                <a:t>Implement and fine tune different ML models to distinguish multiple types of physical scatterers from each other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5545387" y="9416568"/>
            <a:ext cx="342782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2D3880"/>
                </a:solidFill>
                <a:latin typeface="Glacial Indifference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144000" cy="10883072"/>
          </a:xfrm>
          <a:custGeom>
            <a:avLst/>
            <a:gdLst/>
            <a:ahLst/>
            <a:cxnLst/>
            <a:rect r="r" b="b" t="t" l="l"/>
            <a:pathLst>
              <a:path h="10883072" w="9144000">
                <a:moveTo>
                  <a:pt x="0" y="0"/>
                </a:moveTo>
                <a:lnTo>
                  <a:pt x="9144000" y="0"/>
                </a:lnTo>
                <a:lnTo>
                  <a:pt x="9144000" y="10883072"/>
                </a:lnTo>
                <a:lnTo>
                  <a:pt x="0" y="108830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6000"/>
            </a:blip>
            <a:stretch>
              <a:fillRect l="-14211" t="-2277" r="-11445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0"/>
            <a:ext cx="9655346" cy="11357315"/>
          </a:xfrm>
          <a:custGeom>
            <a:avLst/>
            <a:gdLst/>
            <a:ahLst/>
            <a:cxnLst/>
            <a:rect r="r" b="b" t="t" l="l"/>
            <a:pathLst>
              <a:path h="11357315" w="9655346">
                <a:moveTo>
                  <a:pt x="0" y="0"/>
                </a:moveTo>
                <a:lnTo>
                  <a:pt x="9655346" y="0"/>
                </a:lnTo>
                <a:lnTo>
                  <a:pt x="9655346" y="11357315"/>
                </a:lnTo>
                <a:lnTo>
                  <a:pt x="0" y="113573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6000"/>
            </a:blip>
            <a:stretch>
              <a:fillRect l="-10850" t="-3463" r="-1085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569319" y="1537753"/>
            <a:ext cx="3349317" cy="2216169"/>
          </a:xfrm>
          <a:custGeom>
            <a:avLst/>
            <a:gdLst/>
            <a:ahLst/>
            <a:cxnLst/>
            <a:rect r="r" b="b" t="t" l="l"/>
            <a:pathLst>
              <a:path h="2216169" w="3349317">
                <a:moveTo>
                  <a:pt x="0" y="0"/>
                </a:moveTo>
                <a:lnTo>
                  <a:pt x="3349317" y="0"/>
                </a:lnTo>
                <a:lnTo>
                  <a:pt x="3349317" y="2216169"/>
                </a:lnTo>
                <a:lnTo>
                  <a:pt x="0" y="22161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7993156" y="5143500"/>
            <a:ext cx="2609469" cy="4114800"/>
          </a:xfrm>
          <a:custGeom>
            <a:avLst/>
            <a:gdLst/>
            <a:ahLst/>
            <a:cxnLst/>
            <a:rect r="r" b="b" t="t" l="l"/>
            <a:pathLst>
              <a:path h="4114800" w="2609469">
                <a:moveTo>
                  <a:pt x="2609469" y="0"/>
                </a:moveTo>
                <a:lnTo>
                  <a:pt x="0" y="0"/>
                </a:lnTo>
                <a:lnTo>
                  <a:pt x="0" y="4114800"/>
                </a:lnTo>
                <a:lnTo>
                  <a:pt x="2609469" y="4114800"/>
                </a:lnTo>
                <a:lnTo>
                  <a:pt x="260946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4142637" y="3739666"/>
            <a:ext cx="4053065" cy="2807669"/>
          </a:xfrm>
          <a:custGeom>
            <a:avLst/>
            <a:gdLst/>
            <a:ahLst/>
            <a:cxnLst/>
            <a:rect r="r" b="b" t="t" l="l"/>
            <a:pathLst>
              <a:path h="2807669" w="4053065">
                <a:moveTo>
                  <a:pt x="4053065" y="0"/>
                </a:moveTo>
                <a:lnTo>
                  <a:pt x="0" y="0"/>
                </a:lnTo>
                <a:lnTo>
                  <a:pt x="0" y="2807668"/>
                </a:lnTo>
                <a:lnTo>
                  <a:pt x="4053065" y="2807668"/>
                </a:lnTo>
                <a:lnTo>
                  <a:pt x="4053065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6925441" y="7895539"/>
            <a:ext cx="1408943" cy="591756"/>
          </a:xfrm>
          <a:custGeom>
            <a:avLst/>
            <a:gdLst/>
            <a:ahLst/>
            <a:cxnLst/>
            <a:rect r="r" b="b" t="t" l="l"/>
            <a:pathLst>
              <a:path h="591756" w="1408943">
                <a:moveTo>
                  <a:pt x="1408943" y="0"/>
                </a:moveTo>
                <a:lnTo>
                  <a:pt x="0" y="0"/>
                </a:lnTo>
                <a:lnTo>
                  <a:pt x="0" y="591757"/>
                </a:lnTo>
                <a:lnTo>
                  <a:pt x="1408943" y="591757"/>
                </a:lnTo>
                <a:lnTo>
                  <a:pt x="1408943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4243977" y="7124535"/>
            <a:ext cx="2296616" cy="2133765"/>
            <a:chOff x="0" y="0"/>
            <a:chExt cx="3062154" cy="28450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062154" cy="2845020"/>
            </a:xfrm>
            <a:custGeom>
              <a:avLst/>
              <a:gdLst/>
              <a:ahLst/>
              <a:cxnLst/>
              <a:rect r="r" b="b" t="t" l="l"/>
              <a:pathLst>
                <a:path h="2845020" w="3062154">
                  <a:moveTo>
                    <a:pt x="0" y="0"/>
                  </a:moveTo>
                  <a:lnTo>
                    <a:pt x="3062154" y="0"/>
                  </a:lnTo>
                  <a:lnTo>
                    <a:pt x="3062154" y="2845020"/>
                  </a:lnTo>
                  <a:lnTo>
                    <a:pt x="0" y="28450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437364" y="189110"/>
              <a:ext cx="2236989" cy="1398417"/>
            </a:xfrm>
            <a:custGeom>
              <a:avLst/>
              <a:gdLst/>
              <a:ahLst/>
              <a:cxnLst/>
              <a:rect r="r" b="b" t="t" l="l"/>
              <a:pathLst>
                <a:path h="1398417" w="2236989">
                  <a:moveTo>
                    <a:pt x="0" y="0"/>
                  </a:moveTo>
                  <a:lnTo>
                    <a:pt x="2236989" y="0"/>
                  </a:lnTo>
                  <a:lnTo>
                    <a:pt x="2236989" y="1398417"/>
                  </a:lnTo>
                  <a:lnTo>
                    <a:pt x="0" y="1398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-1588" t="-6840" r="0" b="-32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7629912" y="9191625"/>
            <a:ext cx="570240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ormorant Garamond Bold"/>
              </a:rPr>
              <a:t>Doppler Weather Radar ( DWR 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631984" y="2818261"/>
            <a:ext cx="570240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ormorant Garamond Bold"/>
              </a:rPr>
              <a:t>Bats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519835" y="5186612"/>
            <a:ext cx="2104331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59"/>
              </a:lnSpc>
              <a:spcBef>
                <a:spcPct val="0"/>
              </a:spcBef>
            </a:pPr>
            <a:r>
              <a:rPr lang="en-US" sz="3399" strike="noStrike" u="none">
                <a:solidFill>
                  <a:srgbClr val="000000"/>
                </a:solidFill>
                <a:latin typeface="Cormorant Garamond Bold"/>
              </a:rPr>
              <a:t>Radar Beam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848362" y="9191625"/>
            <a:ext cx="478155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59"/>
              </a:lnSpc>
              <a:spcBef>
                <a:spcPct val="0"/>
              </a:spcBef>
            </a:pPr>
            <a:r>
              <a:rPr lang="en-US" sz="3399" strike="noStrike" u="none">
                <a:solidFill>
                  <a:srgbClr val="000000"/>
                </a:solidFill>
                <a:latin typeface="Cormorant Garamond Bold"/>
              </a:rPr>
              <a:t>WCT &amp; NEXRAD images   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595785" y="420021"/>
            <a:ext cx="5604809" cy="1132896"/>
            <a:chOff x="0" y="0"/>
            <a:chExt cx="7473079" cy="151052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103128"/>
              <a:ext cx="7473079" cy="1407400"/>
            </a:xfrm>
            <a:custGeom>
              <a:avLst/>
              <a:gdLst/>
              <a:ahLst/>
              <a:cxnLst/>
              <a:rect r="r" b="b" t="t" l="l"/>
              <a:pathLst>
                <a:path h="1407400" w="7473079">
                  <a:moveTo>
                    <a:pt x="0" y="0"/>
                  </a:moveTo>
                  <a:lnTo>
                    <a:pt x="7473079" y="0"/>
                  </a:lnTo>
                  <a:lnTo>
                    <a:pt x="7473079" y="1407401"/>
                  </a:lnTo>
                  <a:lnTo>
                    <a:pt x="0" y="14074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alphaModFix amt="26000"/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-96033" b="-22306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 rot="0">
              <a:off x="457139" y="-133350"/>
              <a:ext cx="6639996" cy="16236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0268"/>
                </a:lnSpc>
                <a:spcBef>
                  <a:spcPct val="0"/>
                </a:spcBef>
              </a:pPr>
              <a:r>
                <a:rPr lang="en-US" sz="7334">
                  <a:solidFill>
                    <a:srgbClr val="FFFFFF"/>
                  </a:solidFill>
                  <a:latin typeface="Cormorant Garamond Bold Italics"/>
                </a:rPr>
                <a:t>Case Study - I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5738196" y="9448483"/>
            <a:ext cx="342782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2D3880"/>
                </a:solidFill>
                <a:latin typeface="Glacial Indifference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0837" y="1191643"/>
            <a:ext cx="3713217" cy="2081299"/>
            <a:chOff x="0" y="0"/>
            <a:chExt cx="4950957" cy="27750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50957" cy="2577210"/>
            </a:xfrm>
            <a:custGeom>
              <a:avLst/>
              <a:gdLst/>
              <a:ahLst/>
              <a:cxnLst/>
              <a:rect r="r" b="b" t="t" l="l"/>
              <a:pathLst>
                <a:path h="2577210" w="4950957">
                  <a:moveTo>
                    <a:pt x="0" y="0"/>
                  </a:moveTo>
                  <a:lnTo>
                    <a:pt x="4950957" y="0"/>
                  </a:lnTo>
                  <a:lnTo>
                    <a:pt x="4950957" y="2577210"/>
                  </a:lnTo>
                  <a:lnTo>
                    <a:pt x="0" y="25772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074025" y="980518"/>
              <a:ext cx="1811011" cy="1794547"/>
            </a:xfrm>
            <a:custGeom>
              <a:avLst/>
              <a:gdLst/>
              <a:ahLst/>
              <a:cxnLst/>
              <a:rect r="r" b="b" t="t" l="l"/>
              <a:pathLst>
                <a:path h="1794547" w="1811011">
                  <a:moveTo>
                    <a:pt x="0" y="0"/>
                  </a:moveTo>
                  <a:lnTo>
                    <a:pt x="1811011" y="0"/>
                  </a:lnTo>
                  <a:lnTo>
                    <a:pt x="1811011" y="1794547"/>
                  </a:lnTo>
                  <a:lnTo>
                    <a:pt x="0" y="17945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3003301" y="1309327"/>
            <a:ext cx="4774922" cy="3330248"/>
            <a:chOff x="0" y="0"/>
            <a:chExt cx="6366563" cy="444033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337158" y="2006909"/>
              <a:ext cx="6029405" cy="2433422"/>
            </a:xfrm>
            <a:custGeom>
              <a:avLst/>
              <a:gdLst/>
              <a:ahLst/>
              <a:cxnLst/>
              <a:rect r="r" b="b" t="t" l="l"/>
              <a:pathLst>
                <a:path h="2433422" w="6029405">
                  <a:moveTo>
                    <a:pt x="0" y="0"/>
                  </a:moveTo>
                  <a:lnTo>
                    <a:pt x="6029405" y="0"/>
                  </a:lnTo>
                  <a:lnTo>
                    <a:pt x="6029405" y="2433422"/>
                  </a:lnTo>
                  <a:lnTo>
                    <a:pt x="0" y="24334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-2450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957922" y="2178775"/>
              <a:ext cx="1895475" cy="3704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80"/>
                </a:lnSpc>
                <a:spcBef>
                  <a:spcPct val="0"/>
                </a:spcBef>
              </a:pPr>
              <a:r>
                <a:rPr lang="en-US" sz="2176" strike="noStrike" u="none">
                  <a:solidFill>
                    <a:srgbClr val="000000"/>
                  </a:solidFill>
                  <a:latin typeface="Canva Sans Bold"/>
                </a:rPr>
                <a:t>Properties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873131" y="2654398"/>
              <a:ext cx="2222845" cy="5226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1434"/>
                </a:lnSpc>
              </a:pPr>
              <a:r>
                <a:rPr lang="en-US" sz="1576">
                  <a:solidFill>
                    <a:srgbClr val="000000"/>
                  </a:solidFill>
                  <a:latin typeface="Canva Sans"/>
                </a:rPr>
                <a:t>Differential </a:t>
              </a:r>
            </a:p>
            <a:p>
              <a:pPr>
                <a:lnSpc>
                  <a:spcPts val="1434"/>
                </a:lnSpc>
              </a:pPr>
              <a:r>
                <a:rPr lang="en-US" sz="1576">
                  <a:solidFill>
                    <a:srgbClr val="000000"/>
                  </a:solidFill>
                  <a:latin typeface="Canva Sans"/>
                </a:rPr>
                <a:t>Reflectivity (dBZ)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878944" y="3261720"/>
              <a:ext cx="1530747" cy="5219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434"/>
                </a:lnSpc>
                <a:spcBef>
                  <a:spcPct val="0"/>
                </a:spcBef>
              </a:pPr>
              <a:r>
                <a:rPr lang="en-US" sz="1576" strike="noStrike" u="none">
                  <a:solidFill>
                    <a:srgbClr val="000000"/>
                  </a:solidFill>
                  <a:latin typeface="Canva Sans"/>
                </a:rPr>
                <a:t>Correlation </a:t>
              </a:r>
            </a:p>
            <a:p>
              <a:pPr algn="l" marL="0" indent="0" lvl="0">
                <a:lnSpc>
                  <a:spcPts val="1434"/>
                </a:lnSpc>
                <a:spcBef>
                  <a:spcPct val="0"/>
                </a:spcBef>
              </a:pPr>
              <a:r>
                <a:rPr lang="en-US" sz="1576" strike="noStrike" u="none">
                  <a:solidFill>
                    <a:srgbClr val="000000"/>
                  </a:solidFill>
                  <a:latin typeface="Canva Sans"/>
                </a:rPr>
                <a:t>Coefficient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878944" y="3872535"/>
              <a:ext cx="2035440" cy="5219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434"/>
                </a:lnSpc>
                <a:spcBef>
                  <a:spcPct val="0"/>
                </a:spcBef>
              </a:pPr>
              <a:r>
                <a:rPr lang="en-US" sz="1576" strike="noStrike" u="none">
                  <a:solidFill>
                    <a:srgbClr val="000000"/>
                  </a:solidFill>
                  <a:latin typeface="Canva Sans"/>
                </a:rPr>
                <a:t>Differential </a:t>
              </a:r>
            </a:p>
            <a:p>
              <a:pPr algn="l" marL="0" indent="0" lvl="0">
                <a:lnSpc>
                  <a:spcPts val="1434"/>
                </a:lnSpc>
                <a:spcBef>
                  <a:spcPct val="0"/>
                </a:spcBef>
              </a:pPr>
              <a:r>
                <a:rPr lang="en-US" sz="1576" strike="noStrike" u="none">
                  <a:solidFill>
                    <a:srgbClr val="000000"/>
                  </a:solidFill>
                  <a:latin typeface="Canva Sans"/>
                </a:rPr>
                <a:t>Phase (degrees)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4346341" y="2743477"/>
              <a:ext cx="503387" cy="3730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79"/>
                </a:lnSpc>
                <a:spcBef>
                  <a:spcPct val="0"/>
                </a:spcBef>
              </a:pPr>
              <a:r>
                <a:rPr lang="en-US" sz="2174" strike="noStrike" u="none">
                  <a:solidFill>
                    <a:srgbClr val="000000"/>
                  </a:solidFill>
                  <a:latin typeface="Canva Sans"/>
                </a:rPr>
                <a:t>&gt; 5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4210816" y="3351799"/>
              <a:ext cx="774435" cy="3703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79"/>
                </a:lnSpc>
                <a:spcBef>
                  <a:spcPct val="0"/>
                </a:spcBef>
              </a:pPr>
              <a:r>
                <a:rPr lang="en-US" sz="2174" strike="noStrike" u="none">
                  <a:solidFill>
                    <a:srgbClr val="000000"/>
                  </a:solidFill>
                  <a:latin typeface="Canva Sans"/>
                </a:rPr>
                <a:t>&lt;0.4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4210816" y="3962614"/>
              <a:ext cx="963216" cy="3703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79"/>
                </a:lnSpc>
                <a:spcBef>
                  <a:spcPct val="0"/>
                </a:spcBef>
              </a:pPr>
              <a:r>
                <a:rPr lang="en-US" sz="2174" strike="noStrike" u="none">
                  <a:solidFill>
                    <a:srgbClr val="000000"/>
                  </a:solidFill>
                  <a:latin typeface="Canva Sans"/>
                </a:rPr>
                <a:t>&gt; 140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4048296" y="2178775"/>
              <a:ext cx="1288256" cy="3704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80"/>
                </a:lnSpc>
                <a:spcBef>
                  <a:spcPct val="0"/>
                </a:spcBef>
              </a:pPr>
              <a:r>
                <a:rPr lang="en-US" sz="2176" strike="noStrike" u="none">
                  <a:solidFill>
                    <a:srgbClr val="000000"/>
                  </a:solidFill>
                  <a:latin typeface="Canva Sans Bold"/>
                </a:rPr>
                <a:t>Values </a:t>
              </a:r>
            </a:p>
          </p:txBody>
        </p:sp>
        <p:sp>
          <p:nvSpPr>
            <p:cNvPr name="Freeform 15" id="15"/>
            <p:cNvSpPr/>
            <p:nvPr/>
          </p:nvSpPr>
          <p:spPr>
            <a:xfrm flipH="true" flipV="false" rot="0">
              <a:off x="0" y="0"/>
              <a:ext cx="2041163" cy="2263386"/>
            </a:xfrm>
            <a:custGeom>
              <a:avLst/>
              <a:gdLst/>
              <a:ahLst/>
              <a:cxnLst/>
              <a:rect r="r" b="b" t="t" l="l"/>
              <a:pathLst>
                <a:path h="2263386" w="2041163">
                  <a:moveTo>
                    <a:pt x="2041163" y="0"/>
                  </a:moveTo>
                  <a:lnTo>
                    <a:pt x="0" y="0"/>
                  </a:lnTo>
                  <a:lnTo>
                    <a:pt x="0" y="2263386"/>
                  </a:lnTo>
                  <a:lnTo>
                    <a:pt x="2041163" y="2263386"/>
                  </a:lnTo>
                  <a:lnTo>
                    <a:pt x="2041163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829847" y="5143500"/>
            <a:ext cx="6308998" cy="4552569"/>
            <a:chOff x="0" y="0"/>
            <a:chExt cx="8411997" cy="607009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3906429" y="3069313"/>
              <a:ext cx="4505568" cy="3000778"/>
            </a:xfrm>
            <a:custGeom>
              <a:avLst/>
              <a:gdLst/>
              <a:ahLst/>
              <a:cxnLst/>
              <a:rect r="r" b="b" t="t" l="l"/>
              <a:pathLst>
                <a:path h="3000778" w="4505568">
                  <a:moveTo>
                    <a:pt x="0" y="0"/>
                  </a:moveTo>
                  <a:lnTo>
                    <a:pt x="4505568" y="0"/>
                  </a:lnTo>
                  <a:lnTo>
                    <a:pt x="4505568" y="3000778"/>
                  </a:lnTo>
                  <a:lnTo>
                    <a:pt x="0" y="30007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3803527" y="0"/>
              <a:ext cx="4608470" cy="3069313"/>
            </a:xfrm>
            <a:custGeom>
              <a:avLst/>
              <a:gdLst/>
              <a:ahLst/>
              <a:cxnLst/>
              <a:rect r="r" b="b" t="t" l="l"/>
              <a:pathLst>
                <a:path h="3069313" w="4608470">
                  <a:moveTo>
                    <a:pt x="0" y="0"/>
                  </a:moveTo>
                  <a:lnTo>
                    <a:pt x="4608470" y="0"/>
                  </a:lnTo>
                  <a:lnTo>
                    <a:pt x="4608470" y="3069313"/>
                  </a:lnTo>
                  <a:lnTo>
                    <a:pt x="0" y="30693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1932034"/>
              <a:ext cx="3803527" cy="2663427"/>
            </a:xfrm>
            <a:custGeom>
              <a:avLst/>
              <a:gdLst/>
              <a:ahLst/>
              <a:cxnLst/>
              <a:rect r="r" b="b" t="t" l="l"/>
              <a:pathLst>
                <a:path h="2663427" w="3803527">
                  <a:moveTo>
                    <a:pt x="0" y="0"/>
                  </a:moveTo>
                  <a:lnTo>
                    <a:pt x="3803527" y="0"/>
                  </a:lnTo>
                  <a:lnTo>
                    <a:pt x="3803527" y="2663427"/>
                  </a:lnTo>
                  <a:lnTo>
                    <a:pt x="0" y="26634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403473" y="1263406"/>
            <a:ext cx="3057611" cy="1789382"/>
            <a:chOff x="0" y="0"/>
            <a:chExt cx="4076815" cy="238584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90972" y="0"/>
              <a:ext cx="2385843" cy="2385843"/>
            </a:xfrm>
            <a:custGeom>
              <a:avLst/>
              <a:gdLst/>
              <a:ahLst/>
              <a:cxnLst/>
              <a:rect r="r" b="b" t="t" l="l"/>
              <a:pathLst>
                <a:path h="2385843" w="2385843">
                  <a:moveTo>
                    <a:pt x="0" y="0"/>
                  </a:moveTo>
                  <a:lnTo>
                    <a:pt x="2385843" y="0"/>
                  </a:lnTo>
                  <a:lnTo>
                    <a:pt x="2385843" y="2385843"/>
                  </a:lnTo>
                  <a:lnTo>
                    <a:pt x="0" y="23858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37248" t="-45321" r="-59832" b="-23201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1081104"/>
              <a:ext cx="1527739" cy="455544"/>
            </a:xfrm>
            <a:custGeom>
              <a:avLst/>
              <a:gdLst/>
              <a:ahLst/>
              <a:cxnLst/>
              <a:rect r="r" b="b" t="t" l="l"/>
              <a:pathLst>
                <a:path h="455544" w="1527739">
                  <a:moveTo>
                    <a:pt x="0" y="0"/>
                  </a:moveTo>
                  <a:lnTo>
                    <a:pt x="1527739" y="0"/>
                  </a:lnTo>
                  <a:lnTo>
                    <a:pt x="1527739" y="455544"/>
                  </a:lnTo>
                  <a:lnTo>
                    <a:pt x="0" y="4555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7670634" y="1191643"/>
            <a:ext cx="5123117" cy="3514705"/>
            <a:chOff x="0" y="0"/>
            <a:chExt cx="6830822" cy="4686274"/>
          </a:xfrm>
        </p:grpSpPr>
        <p:pic>
          <p:nvPicPr>
            <p:cNvPr name="Picture 24" id="24">
              <a:hlinkClick action="ppaction://media"/>
            </p:cNvPr>
            <p:cNvPicPr>
              <a:picLocks noChangeAspect="true"/>
            </p:cNvPicPr>
            <p:nvPr>
              <a:videoFile r:link="rId16"/>
              <p:extLst>
                <p:ext uri="{DAA4B4D4-6D71-4841-9C94-3DE7FCFB9230}">
                  <p14:media xmlns:p14="http://schemas.microsoft.com/office/powerpoint/2010/main" r:embed="rId17"/>
                </p:ext>
              </p:extLst>
            </p:nvPr>
          </p:nvPicPr>
          <p:blipFill>
            <a:blip r:embed="rId15"/>
            <a:srcRect l="11491" t="564" r="33973" b="4464"/>
            <a:stretch>
              <a:fillRect/>
            </a:stretch>
          </p:blipFill>
          <p:spPr>
            <a:xfrm flipH="false" flipV="false" rot="0">
              <a:off x="2144548" y="0"/>
              <a:ext cx="4686274" cy="4686274"/>
            </a:xfrm>
            <a:prstGeom prst="rect">
              <a:avLst/>
            </a:prstGeom>
          </p:spPr>
        </p:pic>
        <p:sp>
          <p:nvSpPr>
            <p:cNvPr name="Freeform 25" id="25"/>
            <p:cNvSpPr/>
            <p:nvPr/>
          </p:nvSpPr>
          <p:spPr>
            <a:xfrm flipH="false" flipV="false" rot="0">
              <a:off x="0" y="1176788"/>
              <a:ext cx="1527739" cy="455544"/>
            </a:xfrm>
            <a:custGeom>
              <a:avLst/>
              <a:gdLst/>
              <a:ahLst/>
              <a:cxnLst/>
              <a:rect r="r" b="b" t="t" l="l"/>
              <a:pathLst>
                <a:path h="455544" w="1527739">
                  <a:moveTo>
                    <a:pt x="0" y="0"/>
                  </a:moveTo>
                  <a:lnTo>
                    <a:pt x="1527739" y="0"/>
                  </a:lnTo>
                  <a:lnTo>
                    <a:pt x="1527739" y="455544"/>
                  </a:lnTo>
                  <a:lnTo>
                    <a:pt x="0" y="4555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5195661" y="8069235"/>
            <a:ext cx="6765776" cy="2016380"/>
            <a:chOff x="0" y="0"/>
            <a:chExt cx="9021035" cy="2688506"/>
          </a:xfrm>
        </p:grpSpPr>
        <p:sp>
          <p:nvSpPr>
            <p:cNvPr name="Freeform 27" id="27"/>
            <p:cNvSpPr/>
            <p:nvPr/>
          </p:nvSpPr>
          <p:spPr>
            <a:xfrm flipH="true" flipV="false" rot="0">
              <a:off x="6841228" y="893365"/>
              <a:ext cx="2179807" cy="649979"/>
            </a:xfrm>
            <a:custGeom>
              <a:avLst/>
              <a:gdLst/>
              <a:ahLst/>
              <a:cxnLst/>
              <a:rect r="r" b="b" t="t" l="l"/>
              <a:pathLst>
                <a:path h="649979" w="2179807">
                  <a:moveTo>
                    <a:pt x="2179807" y="0"/>
                  </a:moveTo>
                  <a:lnTo>
                    <a:pt x="0" y="0"/>
                  </a:lnTo>
                  <a:lnTo>
                    <a:pt x="0" y="649979"/>
                  </a:lnTo>
                  <a:lnTo>
                    <a:pt x="2179807" y="649979"/>
                  </a:lnTo>
                  <a:lnTo>
                    <a:pt x="2179807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599928" cy="2688506"/>
            </a:xfrm>
            <a:custGeom>
              <a:avLst/>
              <a:gdLst/>
              <a:ahLst/>
              <a:cxnLst/>
              <a:rect r="r" b="b" t="t" l="l"/>
              <a:pathLst>
                <a:path h="2688506" w="6599928">
                  <a:moveTo>
                    <a:pt x="0" y="0"/>
                  </a:moveTo>
                  <a:lnTo>
                    <a:pt x="6599928" y="0"/>
                  </a:lnTo>
                  <a:lnTo>
                    <a:pt x="6599928" y="2688506"/>
                  </a:lnTo>
                  <a:lnTo>
                    <a:pt x="0" y="26885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-36852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0" y="3580538"/>
            <a:ext cx="6016514" cy="6084757"/>
            <a:chOff x="0" y="0"/>
            <a:chExt cx="8022019" cy="8113009"/>
          </a:xfrm>
        </p:grpSpPr>
        <p:sp>
          <p:nvSpPr>
            <p:cNvPr name="Freeform 30" id="30"/>
            <p:cNvSpPr/>
            <p:nvPr/>
          </p:nvSpPr>
          <p:spPr>
            <a:xfrm flipH="true" flipV="false" rot="0">
              <a:off x="5023701" y="6019018"/>
              <a:ext cx="1876977" cy="2093991"/>
            </a:xfrm>
            <a:custGeom>
              <a:avLst/>
              <a:gdLst/>
              <a:ahLst/>
              <a:cxnLst/>
              <a:rect r="r" b="b" t="t" l="l"/>
              <a:pathLst>
                <a:path h="2093991" w="1876977">
                  <a:moveTo>
                    <a:pt x="1876977" y="0"/>
                  </a:moveTo>
                  <a:lnTo>
                    <a:pt x="0" y="0"/>
                  </a:lnTo>
                  <a:lnTo>
                    <a:pt x="0" y="2093991"/>
                  </a:lnTo>
                  <a:lnTo>
                    <a:pt x="1876977" y="2093991"/>
                  </a:lnTo>
                  <a:lnTo>
                    <a:pt x="1876977" y="0"/>
                  </a:lnTo>
                  <a:close/>
                </a:path>
              </a:pathLst>
            </a:custGeom>
            <a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022019" cy="6019018"/>
            </a:xfrm>
            <a:custGeom>
              <a:avLst/>
              <a:gdLst/>
              <a:ahLst/>
              <a:cxnLst/>
              <a:rect r="r" b="b" t="t" l="l"/>
              <a:pathLst>
                <a:path h="6019018" w="8022019">
                  <a:moveTo>
                    <a:pt x="0" y="0"/>
                  </a:moveTo>
                  <a:lnTo>
                    <a:pt x="8022019" y="0"/>
                  </a:lnTo>
                  <a:lnTo>
                    <a:pt x="8022019" y="6019018"/>
                  </a:lnTo>
                  <a:lnTo>
                    <a:pt x="0" y="6019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0" r="0" b="0"/>
              </a:stretch>
            </a:blip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-1208660" y="247652"/>
            <a:ext cx="20050196" cy="781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300"/>
              </a:lnSpc>
              <a:spcBef>
                <a:spcPct val="0"/>
              </a:spcBef>
            </a:pPr>
            <a:r>
              <a:rPr lang="en-US" sz="4500">
                <a:solidFill>
                  <a:srgbClr val="2D3880"/>
                </a:solidFill>
                <a:latin typeface="Cormorant Garamond Bold Italics"/>
              </a:rPr>
              <a:t>METHODOLOGY</a:t>
            </a:r>
            <a:r>
              <a:rPr lang="en-US" sz="4500" strike="noStrike" u="none">
                <a:solidFill>
                  <a:srgbClr val="2D3880"/>
                </a:solidFill>
                <a:latin typeface="Cormorant Garamond Bold Italics"/>
              </a:rPr>
              <a:t>    Bat Appearance at Laughlin, Texas on 01/04/2013 at 01:02 UTC  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5413711" y="9598620"/>
            <a:ext cx="342782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2D3880"/>
                </a:solidFill>
                <a:latin typeface="Glacial Indifference"/>
              </a:rPr>
              <a:t>4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24"/>
                </p:tgtEl>
              </p:cMediaNode>
            </p:video>
          </p:childTnLst>
        </p:cTn>
      </p:par>
    </p:tnLst>
  </p:timing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144000" cy="10883072"/>
          </a:xfrm>
          <a:custGeom>
            <a:avLst/>
            <a:gdLst/>
            <a:ahLst/>
            <a:cxnLst/>
            <a:rect r="r" b="b" t="t" l="l"/>
            <a:pathLst>
              <a:path h="10883072" w="9144000">
                <a:moveTo>
                  <a:pt x="0" y="0"/>
                </a:moveTo>
                <a:lnTo>
                  <a:pt x="9144000" y="0"/>
                </a:lnTo>
                <a:lnTo>
                  <a:pt x="9144000" y="10883072"/>
                </a:lnTo>
                <a:lnTo>
                  <a:pt x="0" y="108830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6000"/>
            </a:blip>
            <a:stretch>
              <a:fillRect l="-14211" t="-2277" r="-11445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0"/>
            <a:ext cx="9655346" cy="11357315"/>
          </a:xfrm>
          <a:custGeom>
            <a:avLst/>
            <a:gdLst/>
            <a:ahLst/>
            <a:cxnLst/>
            <a:rect r="r" b="b" t="t" l="l"/>
            <a:pathLst>
              <a:path h="11357315" w="9655346">
                <a:moveTo>
                  <a:pt x="0" y="0"/>
                </a:moveTo>
                <a:lnTo>
                  <a:pt x="9655346" y="0"/>
                </a:lnTo>
                <a:lnTo>
                  <a:pt x="9655346" y="11357315"/>
                </a:lnTo>
                <a:lnTo>
                  <a:pt x="0" y="113573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6000"/>
            </a:blip>
            <a:stretch>
              <a:fillRect l="-10850" t="-3463" r="-1085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3485431" y="64964"/>
            <a:ext cx="3773869" cy="4188416"/>
            <a:chOff x="0" y="0"/>
            <a:chExt cx="5031826" cy="558455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031826" cy="4918610"/>
            </a:xfrm>
            <a:custGeom>
              <a:avLst/>
              <a:gdLst/>
              <a:ahLst/>
              <a:cxnLst/>
              <a:rect r="r" b="b" t="t" l="l"/>
              <a:pathLst>
                <a:path h="4918610" w="5031826">
                  <a:moveTo>
                    <a:pt x="0" y="0"/>
                  </a:moveTo>
                  <a:lnTo>
                    <a:pt x="5031826" y="0"/>
                  </a:lnTo>
                  <a:lnTo>
                    <a:pt x="5031826" y="4918610"/>
                  </a:lnTo>
                  <a:lnTo>
                    <a:pt x="0" y="4918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2047061" y="4832927"/>
              <a:ext cx="2984765" cy="7516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759"/>
                </a:lnSpc>
                <a:spcBef>
                  <a:spcPct val="0"/>
                </a:spcBef>
              </a:pPr>
              <a:r>
                <a:rPr lang="en-US" sz="3399" strike="noStrike" u="none">
                  <a:solidFill>
                    <a:srgbClr val="000000"/>
                  </a:solidFill>
                  <a:latin typeface="Cormorant Garamond Bold"/>
                </a:rPr>
                <a:t>Precipitation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602625" y="3254515"/>
            <a:ext cx="4053065" cy="2807669"/>
            <a:chOff x="0" y="0"/>
            <a:chExt cx="5404087" cy="37435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404087" cy="3743558"/>
            </a:xfrm>
            <a:custGeom>
              <a:avLst/>
              <a:gdLst/>
              <a:ahLst/>
              <a:cxnLst/>
              <a:rect r="r" b="b" t="t" l="l"/>
              <a:pathLst>
                <a:path h="3743558" w="5404087">
                  <a:moveTo>
                    <a:pt x="0" y="0"/>
                  </a:moveTo>
                  <a:lnTo>
                    <a:pt x="5404087" y="0"/>
                  </a:lnTo>
                  <a:lnTo>
                    <a:pt x="5404087" y="3743558"/>
                  </a:lnTo>
                  <a:lnTo>
                    <a:pt x="0" y="37435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2101425" y="2506876"/>
              <a:ext cx="2805774" cy="7516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759"/>
                </a:lnSpc>
                <a:spcBef>
                  <a:spcPct val="0"/>
                </a:spcBef>
              </a:pPr>
              <a:r>
                <a:rPr lang="en-US" sz="3399" strike="noStrike" u="none">
                  <a:solidFill>
                    <a:srgbClr val="000000"/>
                  </a:solidFill>
                  <a:latin typeface="Cormorant Garamond Bold"/>
                </a:rPr>
                <a:t>Radar Beam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25441" y="5143500"/>
            <a:ext cx="5702400" cy="4628515"/>
            <a:chOff x="0" y="0"/>
            <a:chExt cx="7603199" cy="617135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423620" y="0"/>
              <a:ext cx="3479292" cy="5486400"/>
            </a:xfrm>
            <a:custGeom>
              <a:avLst/>
              <a:gdLst/>
              <a:ahLst/>
              <a:cxnLst/>
              <a:rect r="r" b="b" t="t" l="l"/>
              <a:pathLst>
                <a:path h="5486400" w="3479292">
                  <a:moveTo>
                    <a:pt x="0" y="0"/>
                  </a:moveTo>
                  <a:lnTo>
                    <a:pt x="3479292" y="0"/>
                  </a:lnTo>
                  <a:lnTo>
                    <a:pt x="3479292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0" y="5419725"/>
              <a:ext cx="7603199" cy="7516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000000"/>
                  </a:solidFill>
                  <a:latin typeface="Cormorant Garamond Bold"/>
                </a:rPr>
                <a:t>Doppler Weather Radar ( DWR )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0602625" y="7859416"/>
            <a:ext cx="1408943" cy="591756"/>
          </a:xfrm>
          <a:custGeom>
            <a:avLst/>
            <a:gdLst/>
            <a:ahLst/>
            <a:cxnLst/>
            <a:rect r="r" b="b" t="t" l="l"/>
            <a:pathLst>
              <a:path h="591756" w="1408943">
                <a:moveTo>
                  <a:pt x="0" y="0"/>
                </a:moveTo>
                <a:lnTo>
                  <a:pt x="1408943" y="0"/>
                </a:lnTo>
                <a:lnTo>
                  <a:pt x="1408943" y="591757"/>
                </a:lnTo>
                <a:lnTo>
                  <a:pt x="0" y="59175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2264915" y="6792534"/>
            <a:ext cx="4781550" cy="2647480"/>
            <a:chOff x="0" y="0"/>
            <a:chExt cx="6375400" cy="352997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483901" y="0"/>
              <a:ext cx="3062154" cy="2845020"/>
            </a:xfrm>
            <a:custGeom>
              <a:avLst/>
              <a:gdLst/>
              <a:ahLst/>
              <a:cxnLst/>
              <a:rect r="r" b="b" t="t" l="l"/>
              <a:pathLst>
                <a:path h="2845020" w="3062154">
                  <a:moveTo>
                    <a:pt x="0" y="0"/>
                  </a:moveTo>
                  <a:lnTo>
                    <a:pt x="3062154" y="0"/>
                  </a:lnTo>
                  <a:lnTo>
                    <a:pt x="3062154" y="2845020"/>
                  </a:lnTo>
                  <a:lnTo>
                    <a:pt x="0" y="28450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921264" y="189110"/>
              <a:ext cx="2236989" cy="1398417"/>
            </a:xfrm>
            <a:custGeom>
              <a:avLst/>
              <a:gdLst/>
              <a:ahLst/>
              <a:cxnLst/>
              <a:rect r="r" b="b" t="t" l="l"/>
              <a:pathLst>
                <a:path h="1398417" w="2236989">
                  <a:moveTo>
                    <a:pt x="0" y="0"/>
                  </a:moveTo>
                  <a:lnTo>
                    <a:pt x="2236989" y="0"/>
                  </a:lnTo>
                  <a:lnTo>
                    <a:pt x="2236989" y="1398417"/>
                  </a:lnTo>
                  <a:lnTo>
                    <a:pt x="0" y="1398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-1588" t="-6840" r="0" b="-32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 rot="0">
              <a:off x="0" y="2778345"/>
              <a:ext cx="6375400" cy="7516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759"/>
                </a:lnSpc>
                <a:spcBef>
                  <a:spcPct val="0"/>
                </a:spcBef>
              </a:pPr>
              <a:r>
                <a:rPr lang="en-US" sz="3399" strike="noStrike" u="none">
                  <a:solidFill>
                    <a:srgbClr val="000000"/>
                  </a:solidFill>
                  <a:latin typeface="Cormorant Garamond Bold"/>
                </a:rPr>
                <a:t>WCT &amp; NEXRAD images   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366476" y="539598"/>
            <a:ext cx="5604809" cy="1055550"/>
          </a:xfrm>
          <a:custGeom>
            <a:avLst/>
            <a:gdLst/>
            <a:ahLst/>
            <a:cxnLst/>
            <a:rect r="r" b="b" t="t" l="l"/>
            <a:pathLst>
              <a:path h="1055550" w="5604809">
                <a:moveTo>
                  <a:pt x="0" y="0"/>
                </a:moveTo>
                <a:lnTo>
                  <a:pt x="5604809" y="0"/>
                </a:lnTo>
                <a:lnTo>
                  <a:pt x="5604809" y="1055550"/>
                </a:lnTo>
                <a:lnTo>
                  <a:pt x="0" y="105555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26000"/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-96033" b="-22306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9" id="19"/>
          <p:cNvSpPr txBox="true"/>
          <p:nvPr/>
        </p:nvSpPr>
        <p:spPr>
          <a:xfrm rot="0">
            <a:off x="-76468" y="406248"/>
            <a:ext cx="6490696" cy="1251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268"/>
              </a:lnSpc>
              <a:spcBef>
                <a:spcPct val="0"/>
              </a:spcBef>
            </a:pPr>
            <a:r>
              <a:rPr lang="en-US" sz="7334">
                <a:solidFill>
                  <a:srgbClr val="FFFFFF"/>
                </a:solidFill>
                <a:latin typeface="Cormorant Garamond Bold Italics"/>
              </a:rPr>
              <a:t>Case Study - II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413711" y="9598620"/>
            <a:ext cx="342782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2D3880"/>
                </a:solidFill>
                <a:latin typeface="Glacial Indifference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228137" y="1309327"/>
            <a:ext cx="5550086" cy="3330248"/>
            <a:chOff x="0" y="0"/>
            <a:chExt cx="7400114" cy="44403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370709" y="2006909"/>
              <a:ext cx="6029405" cy="2433422"/>
            </a:xfrm>
            <a:custGeom>
              <a:avLst/>
              <a:gdLst/>
              <a:ahLst/>
              <a:cxnLst/>
              <a:rect r="r" b="b" t="t" l="l"/>
              <a:pathLst>
                <a:path h="2433422" w="6029405">
                  <a:moveTo>
                    <a:pt x="0" y="0"/>
                  </a:moveTo>
                  <a:lnTo>
                    <a:pt x="6029405" y="0"/>
                  </a:lnTo>
                  <a:lnTo>
                    <a:pt x="6029405" y="2433422"/>
                  </a:lnTo>
                  <a:lnTo>
                    <a:pt x="0" y="24334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-2450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1991473" y="2178775"/>
              <a:ext cx="1895475" cy="3704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80"/>
                </a:lnSpc>
                <a:spcBef>
                  <a:spcPct val="0"/>
                </a:spcBef>
              </a:pPr>
              <a:r>
                <a:rPr lang="en-US" sz="2176" strike="noStrike" u="none">
                  <a:solidFill>
                    <a:srgbClr val="000000"/>
                  </a:solidFill>
                  <a:latin typeface="Canva Sans Bold"/>
                </a:rPr>
                <a:t>Properties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1906682" y="2654398"/>
              <a:ext cx="2222845" cy="5226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1434"/>
                </a:lnSpc>
              </a:pPr>
              <a:r>
                <a:rPr lang="en-US" sz="1576">
                  <a:solidFill>
                    <a:srgbClr val="000000"/>
                  </a:solidFill>
                  <a:latin typeface="Canva Sans"/>
                </a:rPr>
                <a:t>Differential </a:t>
              </a:r>
            </a:p>
            <a:p>
              <a:pPr>
                <a:lnSpc>
                  <a:spcPts val="1434"/>
                </a:lnSpc>
              </a:pPr>
              <a:r>
                <a:rPr lang="en-US" sz="1576">
                  <a:solidFill>
                    <a:srgbClr val="000000"/>
                  </a:solidFill>
                  <a:latin typeface="Canva Sans"/>
                </a:rPr>
                <a:t>Reflectivity (dBZ)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1912495" y="3261720"/>
              <a:ext cx="1530747" cy="5219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434"/>
                </a:lnSpc>
                <a:spcBef>
                  <a:spcPct val="0"/>
                </a:spcBef>
              </a:pPr>
              <a:r>
                <a:rPr lang="en-US" sz="1576" strike="noStrike" u="none">
                  <a:solidFill>
                    <a:srgbClr val="000000"/>
                  </a:solidFill>
                  <a:latin typeface="Canva Sans"/>
                </a:rPr>
                <a:t>Correlation </a:t>
              </a:r>
            </a:p>
            <a:p>
              <a:pPr algn="l" marL="0" indent="0" lvl="0">
                <a:lnSpc>
                  <a:spcPts val="1434"/>
                </a:lnSpc>
                <a:spcBef>
                  <a:spcPct val="0"/>
                </a:spcBef>
              </a:pPr>
              <a:r>
                <a:rPr lang="en-US" sz="1576" strike="noStrike" u="none">
                  <a:solidFill>
                    <a:srgbClr val="000000"/>
                  </a:solidFill>
                  <a:latin typeface="Canva Sans"/>
                </a:rPr>
                <a:t>Coefficient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1912495" y="3872535"/>
              <a:ext cx="2035440" cy="5219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434"/>
                </a:lnSpc>
                <a:spcBef>
                  <a:spcPct val="0"/>
                </a:spcBef>
              </a:pPr>
              <a:r>
                <a:rPr lang="en-US" sz="1576" strike="noStrike" u="none">
                  <a:solidFill>
                    <a:srgbClr val="000000"/>
                  </a:solidFill>
                  <a:latin typeface="Canva Sans"/>
                </a:rPr>
                <a:t>Differential </a:t>
              </a:r>
            </a:p>
            <a:p>
              <a:pPr algn="l" marL="0" indent="0" lvl="0">
                <a:lnSpc>
                  <a:spcPts val="1434"/>
                </a:lnSpc>
                <a:spcBef>
                  <a:spcPct val="0"/>
                </a:spcBef>
              </a:pPr>
              <a:r>
                <a:rPr lang="en-US" sz="1576" strike="noStrike" u="none">
                  <a:solidFill>
                    <a:srgbClr val="000000"/>
                  </a:solidFill>
                  <a:latin typeface="Canva Sans"/>
                </a:rPr>
                <a:t>Phase (degrees)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5346207" y="2763966"/>
              <a:ext cx="1023897" cy="3730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79"/>
                </a:lnSpc>
                <a:spcBef>
                  <a:spcPct val="0"/>
                </a:spcBef>
              </a:pPr>
              <a:r>
                <a:rPr lang="en-US" sz="2174">
                  <a:solidFill>
                    <a:srgbClr val="000000"/>
                  </a:solidFill>
                  <a:latin typeface="Canva Sans"/>
                </a:rPr>
                <a:t>0-2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5244368" y="3351799"/>
              <a:ext cx="1125736" cy="3703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79"/>
                </a:lnSpc>
                <a:spcBef>
                  <a:spcPct val="0"/>
                </a:spcBef>
              </a:pPr>
              <a:r>
                <a:rPr lang="en-US" sz="2174">
                  <a:solidFill>
                    <a:srgbClr val="000000"/>
                  </a:solidFill>
                  <a:latin typeface="Canva Sans"/>
                </a:rPr>
                <a:t>&gt;</a:t>
              </a:r>
              <a:r>
                <a:rPr lang="en-US" sz="2174" strike="noStrike" u="none">
                  <a:solidFill>
                    <a:srgbClr val="000000"/>
                  </a:solidFill>
                  <a:latin typeface="Canva Sans"/>
                </a:rPr>
                <a:t>0.99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5244368" y="3962614"/>
              <a:ext cx="963216" cy="3703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79"/>
                </a:lnSpc>
                <a:spcBef>
                  <a:spcPct val="0"/>
                </a:spcBef>
              </a:pPr>
              <a:r>
                <a:rPr lang="en-US" sz="2174">
                  <a:solidFill>
                    <a:srgbClr val="000000"/>
                  </a:solidFill>
                  <a:latin typeface="Canva Sans"/>
                </a:rPr>
                <a:t>&lt;60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5081847" y="2178775"/>
              <a:ext cx="1288256" cy="3704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80"/>
                </a:lnSpc>
                <a:spcBef>
                  <a:spcPct val="0"/>
                </a:spcBef>
              </a:pPr>
              <a:r>
                <a:rPr lang="en-US" sz="2176" strike="noStrike" u="none">
                  <a:solidFill>
                    <a:srgbClr val="000000"/>
                  </a:solidFill>
                  <a:latin typeface="Canva Sans Bold"/>
                </a:rPr>
                <a:t>Values </a:t>
              </a:r>
            </a:p>
          </p:txBody>
        </p:sp>
        <p:sp>
          <p:nvSpPr>
            <p:cNvPr name="Freeform 12" id="12"/>
            <p:cNvSpPr/>
            <p:nvPr/>
          </p:nvSpPr>
          <p:spPr>
            <a:xfrm flipH="true" flipV="false" rot="0">
              <a:off x="0" y="0"/>
              <a:ext cx="2041163" cy="2263386"/>
            </a:xfrm>
            <a:custGeom>
              <a:avLst/>
              <a:gdLst/>
              <a:ahLst/>
              <a:cxnLst/>
              <a:rect r="r" b="b" t="t" l="l"/>
              <a:pathLst>
                <a:path h="2263386" w="2041163">
                  <a:moveTo>
                    <a:pt x="2041163" y="0"/>
                  </a:moveTo>
                  <a:lnTo>
                    <a:pt x="0" y="0"/>
                  </a:lnTo>
                  <a:lnTo>
                    <a:pt x="0" y="2263386"/>
                  </a:lnTo>
                  <a:lnTo>
                    <a:pt x="2041163" y="2263386"/>
                  </a:lnTo>
                  <a:lnTo>
                    <a:pt x="2041163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4725050" y="2472851"/>
            <a:ext cx="1145804" cy="341658"/>
          </a:xfrm>
          <a:custGeom>
            <a:avLst/>
            <a:gdLst/>
            <a:ahLst/>
            <a:cxnLst/>
            <a:rect r="r" b="b" t="t" l="l"/>
            <a:pathLst>
              <a:path h="341658" w="1145804">
                <a:moveTo>
                  <a:pt x="0" y="0"/>
                </a:moveTo>
                <a:lnTo>
                  <a:pt x="1145805" y="0"/>
                </a:lnTo>
                <a:lnTo>
                  <a:pt x="1145805" y="341658"/>
                </a:lnTo>
                <a:lnTo>
                  <a:pt x="0" y="3416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5195661" y="8069235"/>
            <a:ext cx="6765776" cy="2016380"/>
            <a:chOff x="0" y="0"/>
            <a:chExt cx="9021035" cy="2688506"/>
          </a:xfrm>
        </p:grpSpPr>
        <p:sp>
          <p:nvSpPr>
            <p:cNvPr name="Freeform 15" id="15"/>
            <p:cNvSpPr/>
            <p:nvPr/>
          </p:nvSpPr>
          <p:spPr>
            <a:xfrm flipH="true" flipV="false" rot="0">
              <a:off x="6841228" y="893365"/>
              <a:ext cx="2179807" cy="649979"/>
            </a:xfrm>
            <a:custGeom>
              <a:avLst/>
              <a:gdLst/>
              <a:ahLst/>
              <a:cxnLst/>
              <a:rect r="r" b="b" t="t" l="l"/>
              <a:pathLst>
                <a:path h="649979" w="2179807">
                  <a:moveTo>
                    <a:pt x="2179807" y="0"/>
                  </a:moveTo>
                  <a:lnTo>
                    <a:pt x="0" y="0"/>
                  </a:lnTo>
                  <a:lnTo>
                    <a:pt x="0" y="649979"/>
                  </a:lnTo>
                  <a:lnTo>
                    <a:pt x="2179807" y="649979"/>
                  </a:lnTo>
                  <a:lnTo>
                    <a:pt x="2179807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599928" cy="2688506"/>
            </a:xfrm>
            <a:custGeom>
              <a:avLst/>
              <a:gdLst/>
              <a:ahLst/>
              <a:cxnLst/>
              <a:rect r="r" b="b" t="t" l="l"/>
              <a:pathLst>
                <a:path h="2688506" w="6599928">
                  <a:moveTo>
                    <a:pt x="0" y="0"/>
                  </a:moveTo>
                  <a:lnTo>
                    <a:pt x="6599928" y="0"/>
                  </a:lnTo>
                  <a:lnTo>
                    <a:pt x="6599928" y="2688506"/>
                  </a:lnTo>
                  <a:lnTo>
                    <a:pt x="0" y="26885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36852" b="0"/>
              </a:stretch>
            </a:blip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659714" y="1309327"/>
            <a:ext cx="4065337" cy="2848937"/>
          </a:xfrm>
          <a:custGeom>
            <a:avLst/>
            <a:gdLst/>
            <a:ahLst/>
            <a:cxnLst/>
            <a:rect r="r" b="b" t="t" l="l"/>
            <a:pathLst>
              <a:path h="2848937" w="4065337">
                <a:moveTo>
                  <a:pt x="0" y="0"/>
                </a:moveTo>
                <a:lnTo>
                  <a:pt x="4065336" y="0"/>
                </a:lnTo>
                <a:lnTo>
                  <a:pt x="4065336" y="2848937"/>
                </a:lnTo>
                <a:lnTo>
                  <a:pt x="0" y="284893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pic>
        <p:nvPicPr>
          <p:cNvPr name="Picture 18" id="18">
            <a:hlinkClick action="ppaction://media"/>
          </p:cNvPr>
          <p:cNvPicPr>
            <a:picLocks noChangeAspect="true"/>
          </p:cNvPicPr>
          <p:nvPr>
            <a:videoFile r:link="rId11"/>
            <p:extLst>
              <p:ext uri="{DAA4B4D4-6D71-4841-9C94-3DE7FCFB9230}">
                <p14:media xmlns:p14="http://schemas.microsoft.com/office/powerpoint/2010/main" r:embed="rId12"/>
              </p:ext>
            </p:extLst>
          </p:nvPr>
        </p:nvPicPr>
        <p:blipFill>
          <a:blip r:embed="rId10"/>
          <a:srcRect l="21121" t="0" r="22" b="0"/>
          <a:stretch>
            <a:fillRect/>
          </a:stretch>
        </p:blipFill>
        <p:spPr>
          <a:xfrm flipH="false" flipV="false" rot="0">
            <a:off x="6142068" y="1309327"/>
            <a:ext cx="5819370" cy="4240473"/>
          </a:xfrm>
          <a:prstGeom prst="rect">
            <a:avLst/>
          </a:prstGeom>
        </p:spPr>
      </p:pic>
      <p:grpSp>
        <p:nvGrpSpPr>
          <p:cNvPr name="Group 19" id="19"/>
          <p:cNvGrpSpPr/>
          <p:nvPr/>
        </p:nvGrpSpPr>
        <p:grpSpPr>
          <a:xfrm rot="0">
            <a:off x="10853095" y="4796967"/>
            <a:ext cx="7281586" cy="5338968"/>
            <a:chOff x="0" y="0"/>
            <a:chExt cx="9708782" cy="711862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4825108" y="3724471"/>
              <a:ext cx="4883673" cy="3394153"/>
            </a:xfrm>
            <a:custGeom>
              <a:avLst/>
              <a:gdLst/>
              <a:ahLst/>
              <a:cxnLst/>
              <a:rect r="r" b="b" t="t" l="l"/>
              <a:pathLst>
                <a:path h="3394153" w="4883673">
                  <a:moveTo>
                    <a:pt x="0" y="0"/>
                  </a:moveTo>
                  <a:lnTo>
                    <a:pt x="4883674" y="0"/>
                  </a:lnTo>
                  <a:lnTo>
                    <a:pt x="4883674" y="3394153"/>
                  </a:lnTo>
                  <a:lnTo>
                    <a:pt x="0" y="33941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4825108" y="0"/>
              <a:ext cx="4883673" cy="3394153"/>
            </a:xfrm>
            <a:custGeom>
              <a:avLst/>
              <a:gdLst/>
              <a:ahLst/>
              <a:cxnLst/>
              <a:rect r="r" b="b" t="t" l="l"/>
              <a:pathLst>
                <a:path h="3394153" w="4883673">
                  <a:moveTo>
                    <a:pt x="0" y="0"/>
                  </a:moveTo>
                  <a:lnTo>
                    <a:pt x="4883674" y="0"/>
                  </a:lnTo>
                  <a:lnTo>
                    <a:pt x="4883674" y="3394153"/>
                  </a:lnTo>
                  <a:lnTo>
                    <a:pt x="0" y="33941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2267841"/>
              <a:ext cx="4825108" cy="3439436"/>
            </a:xfrm>
            <a:custGeom>
              <a:avLst/>
              <a:gdLst/>
              <a:ahLst/>
              <a:cxnLst/>
              <a:rect r="r" b="b" t="t" l="l"/>
              <a:pathLst>
                <a:path h="3439436" w="4825108">
                  <a:moveTo>
                    <a:pt x="0" y="0"/>
                  </a:moveTo>
                  <a:lnTo>
                    <a:pt x="4825108" y="0"/>
                  </a:lnTo>
                  <a:lnTo>
                    <a:pt x="4825108" y="3439436"/>
                  </a:lnTo>
                  <a:lnTo>
                    <a:pt x="0" y="34394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0" y="4158264"/>
            <a:ext cx="5870855" cy="5507031"/>
            <a:chOff x="0" y="0"/>
            <a:chExt cx="7827806" cy="7342708"/>
          </a:xfrm>
        </p:grpSpPr>
        <p:sp>
          <p:nvSpPr>
            <p:cNvPr name="Freeform 24" id="24"/>
            <p:cNvSpPr/>
            <p:nvPr/>
          </p:nvSpPr>
          <p:spPr>
            <a:xfrm flipH="true" flipV="false" rot="0">
              <a:off x="5023701" y="5248717"/>
              <a:ext cx="1876977" cy="2093991"/>
            </a:xfrm>
            <a:custGeom>
              <a:avLst/>
              <a:gdLst/>
              <a:ahLst/>
              <a:cxnLst/>
              <a:rect r="r" b="b" t="t" l="l"/>
              <a:pathLst>
                <a:path h="2093991" w="1876977">
                  <a:moveTo>
                    <a:pt x="1876977" y="0"/>
                  </a:moveTo>
                  <a:lnTo>
                    <a:pt x="0" y="0"/>
                  </a:lnTo>
                  <a:lnTo>
                    <a:pt x="0" y="2093991"/>
                  </a:lnTo>
                  <a:lnTo>
                    <a:pt x="1876977" y="2093991"/>
                  </a:lnTo>
                  <a:lnTo>
                    <a:pt x="1876977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827806" cy="5525510"/>
            </a:xfrm>
            <a:custGeom>
              <a:avLst/>
              <a:gdLst/>
              <a:ahLst/>
              <a:cxnLst/>
              <a:rect r="r" b="b" t="t" l="l"/>
              <a:pathLst>
                <a:path h="5525510" w="7827806">
                  <a:moveTo>
                    <a:pt x="0" y="0"/>
                  </a:moveTo>
                  <a:lnTo>
                    <a:pt x="7827806" y="0"/>
                  </a:lnTo>
                  <a:lnTo>
                    <a:pt x="7827806" y="5525510"/>
                  </a:lnTo>
                  <a:lnTo>
                    <a:pt x="0" y="55255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409852" y="200661"/>
            <a:ext cx="16849448" cy="828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860"/>
              </a:lnSpc>
              <a:spcBef>
                <a:spcPct val="0"/>
              </a:spcBef>
            </a:pPr>
            <a:r>
              <a:rPr lang="en-US" sz="4900">
                <a:solidFill>
                  <a:srgbClr val="2D3880"/>
                </a:solidFill>
                <a:latin typeface="Cormorant Garamond Bold Italics"/>
              </a:rPr>
              <a:t>METHODOLOGY</a:t>
            </a:r>
            <a:r>
              <a:rPr lang="en-US" sz="4900" strike="noStrike" u="none">
                <a:solidFill>
                  <a:srgbClr val="2D3880"/>
                </a:solidFill>
                <a:latin typeface="Cormorant Garamond Bold Italics"/>
              </a:rPr>
              <a:t>       Hurricane Maria - Puerto Rico - 20 September 2017 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413711" y="9598620"/>
            <a:ext cx="342782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2D3880"/>
                </a:solidFill>
                <a:latin typeface="Glacial Indifference"/>
              </a:rPr>
              <a:t>6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18"/>
                </p:tgtEl>
              </p:cMediaNode>
            </p:video>
          </p:childTnLst>
        </p:cTn>
      </p:par>
    </p:tnLst>
  </p:timing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144500" y="0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0" y="0"/>
                </a:moveTo>
                <a:lnTo>
                  <a:pt x="5143500" y="0"/>
                </a:lnTo>
                <a:lnTo>
                  <a:pt x="51435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682086" y="990600"/>
            <a:ext cx="5520700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9000"/>
              </a:lnSpc>
            </a:pPr>
            <a:r>
              <a:rPr lang="en-US" sz="7200">
                <a:solidFill>
                  <a:srgbClr val="2D3880"/>
                </a:solidFill>
                <a:latin typeface="Cormorant Garamond Bold Italics"/>
              </a:rPr>
              <a:t>Future Scope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4000" y="2505710"/>
            <a:ext cx="6572250" cy="538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2D3880"/>
                </a:solidFill>
                <a:latin typeface="Canva Sans"/>
              </a:rPr>
              <a:t>Prepare a larger </a:t>
            </a:r>
            <a:r>
              <a:rPr lang="en-US" sz="3399">
                <a:solidFill>
                  <a:srgbClr val="2D3880"/>
                </a:solidFill>
                <a:latin typeface="Canva Sans"/>
              </a:rPr>
              <a:t>dataset for presence of bats and heavy precipitation</a:t>
            </a:r>
          </a:p>
          <a:p>
            <a:pPr>
              <a:lnSpc>
                <a:spcPts val="4759"/>
              </a:lnSpc>
            </a:pPr>
          </a:p>
          <a:p>
            <a:pPr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2D3880"/>
                </a:solidFill>
                <a:latin typeface="Canva Sans"/>
              </a:rPr>
              <a:t>Compare multiple models and tune hyperparameters for the classification pipeline</a:t>
            </a:r>
          </a:p>
          <a:p>
            <a:pPr>
              <a:lnSpc>
                <a:spcPts val="475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895350"/>
            <a:ext cx="3854148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2D3880"/>
                </a:solidFill>
                <a:latin typeface="Cormorant Garamond Bold Italics"/>
              </a:rPr>
              <a:t>Conclusion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79090" y="2505710"/>
            <a:ext cx="8232319" cy="6581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2D3880"/>
                </a:solidFill>
                <a:latin typeface="Canva Sans"/>
              </a:rPr>
              <a:t>Bat Classification model works well for larger patches in the same region</a:t>
            </a:r>
          </a:p>
          <a:p>
            <a:pPr algn="just">
              <a:lnSpc>
                <a:spcPts val="4759"/>
              </a:lnSpc>
            </a:pP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2D3880"/>
                </a:solidFill>
                <a:latin typeface="Canva Sans"/>
              </a:rPr>
              <a:t>Precipitation model works well for a particular area, due to its uniformity in a region</a:t>
            </a:r>
          </a:p>
          <a:p>
            <a:pPr algn="just">
              <a:lnSpc>
                <a:spcPts val="4759"/>
              </a:lnSpc>
            </a:pP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2D3880"/>
                </a:solidFill>
                <a:latin typeface="Canva Sans"/>
              </a:rPr>
              <a:t>Larger training data needs to be used for precipitation</a:t>
            </a:r>
          </a:p>
          <a:p>
            <a:pPr algn="just">
              <a:lnSpc>
                <a:spcPts val="475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5413711" y="9598620"/>
            <a:ext cx="342782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2D3880"/>
                </a:solidFill>
                <a:latin typeface="Glacial Indifference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331905" cy="10287000"/>
            <a:chOff x="0" y="0"/>
            <a:chExt cx="1667662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67662" cy="2709333"/>
            </a:xfrm>
            <a:custGeom>
              <a:avLst/>
              <a:gdLst/>
              <a:ahLst/>
              <a:cxnLst/>
              <a:rect r="r" b="b" t="t" l="l"/>
              <a:pathLst>
                <a:path h="2709333" w="1667662">
                  <a:moveTo>
                    <a:pt x="0" y="0"/>
                  </a:moveTo>
                  <a:lnTo>
                    <a:pt x="1667662" y="0"/>
                  </a:lnTo>
                  <a:lnTo>
                    <a:pt x="166766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9D9DE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667662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79090" y="4295418"/>
            <a:ext cx="7118655" cy="1089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8750"/>
              </a:lnSpc>
            </a:pPr>
            <a:r>
              <a:rPr lang="en-US" sz="7000">
                <a:solidFill>
                  <a:srgbClr val="FFFFFF"/>
                </a:solidFill>
                <a:latin typeface="Cormorant Garamond Bold Italics"/>
              </a:rPr>
              <a:t>Acknowledgement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518378" y="3533883"/>
            <a:ext cx="10740922" cy="2215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4458"/>
              </a:lnSpc>
            </a:pPr>
          </a:p>
          <a:p>
            <a:pPr>
              <a:lnSpc>
                <a:spcPts val="4458"/>
              </a:lnSpc>
            </a:pPr>
            <a:r>
              <a:rPr lang="en-US" sz="2622">
                <a:solidFill>
                  <a:srgbClr val="2D3880"/>
                </a:solidFill>
                <a:latin typeface="Glacial Indifference"/>
                <a:ea typeface="Glacial Indifference"/>
              </a:rPr>
              <a:t>● Prof. J Indu, Department of Civil Engineering, IIT Bombay</a:t>
            </a:r>
          </a:p>
          <a:p>
            <a:pPr>
              <a:lnSpc>
                <a:spcPts val="4458"/>
              </a:lnSpc>
            </a:pPr>
            <a:r>
              <a:rPr lang="en-US" sz="2622">
                <a:solidFill>
                  <a:srgbClr val="2D3880"/>
                </a:solidFill>
                <a:latin typeface="Glacial Indifference"/>
                <a:ea typeface="Glacial Indifference"/>
              </a:rPr>
              <a:t>● Department of Civil Engineering and IoE Office, IIT Bombay</a:t>
            </a:r>
          </a:p>
          <a:p>
            <a:pPr marL="0" indent="0" lvl="0">
              <a:lnSpc>
                <a:spcPts val="4458"/>
              </a:lnSpc>
            </a:pPr>
            <a:r>
              <a:rPr lang="en-US" sz="2622">
                <a:solidFill>
                  <a:srgbClr val="2D3880"/>
                </a:solidFill>
                <a:latin typeface="Glacial Indifference"/>
                <a:ea typeface="Glacial Indifference"/>
              </a:rPr>
              <a:t>● Hydrometeorology and Remote Sensing Group (HMeRS)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413711" y="9598620"/>
            <a:ext cx="342782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2D3880"/>
                </a:solidFill>
                <a:latin typeface="Glacial Indifference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3066628" cy="10287000"/>
          </a:xfrm>
          <a:custGeom>
            <a:avLst/>
            <a:gdLst/>
            <a:ahLst/>
            <a:cxnLst/>
            <a:rect r="r" b="b" t="t" l="l"/>
            <a:pathLst>
              <a:path h="10287000" w="13066628">
                <a:moveTo>
                  <a:pt x="0" y="0"/>
                </a:moveTo>
                <a:lnTo>
                  <a:pt x="13066628" y="0"/>
                </a:lnTo>
                <a:lnTo>
                  <a:pt x="1306662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0" y="5419727"/>
            <a:ext cx="8115300" cy="2066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16810"/>
              </a:lnSpc>
            </a:pPr>
            <a:r>
              <a:rPr lang="en-US" sz="12007">
                <a:solidFill>
                  <a:srgbClr val="2D3880"/>
                </a:solidFill>
                <a:latin typeface="Cormorant Garamond Bold Italics"/>
              </a:rPr>
              <a:t>Thank You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413711" y="9598620"/>
            <a:ext cx="342782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2D3880"/>
                </a:solidFill>
                <a:latin typeface="Glacial Indifference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DAGCI4Ut8d8</dc:identifier>
  <dcterms:modified xsi:type="dcterms:W3CDTF">2011-08-01T06:04:30Z</dcterms:modified>
  <cp:revision>1</cp:revision>
  <dc:title>Copy of Classification of different physical scatterers in weather radar data using machine learning techniques</dc:title>
</cp:coreProperties>
</file>